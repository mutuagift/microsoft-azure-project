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one sentence on who you are and why AZ-900. Then: 'I built the tool I wished I had while preparing.'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Amina is an illustrative persona. Judges score this slide on whether it draws on YOUR own AZ-900 experience, so replace her with two true sentences from your own journey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loop: miss a question -&gt; read the why and the analogy -&gt; the flashcard returns -&gt; readiness updates -&gt; the study plan adapts.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 (90 sec): home ring -&gt; answer one wrong on purpose -&gt; explanation + analogy -&gt; flashcards -&gt; progress -&gt; plan -&gt; Buddy in Kiswahili. It also works offline if Wi-Fi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Statistics verified 23 Oct 2026. GSMA: https://www.gsma.com/newsroom/press-release/new-gsma-report-shows-mobile-internet-connectivity-continues-to-grow-globally-but-barriers-for-3-45-billion-unconnected-people-remain/  IFC: https://www.ifc.org/en/pressroom/2019/ifc-report-finds-130-billion-opportunity-in-digital-skills-across-sub-saharan-africa . The IFC numbers are a 2019 projection,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respectful of Microsoft's official practice assessment. Recommend learners use it too. We are a companion, not a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 THIS to match your real timeline before presenting. Days and bars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any teammates and swap the initials for photos. Being open about AI assistance fits this hackathon: prompt engineering and smart tool use are judged categories.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754880" y="0"/>
            <a:ext cx="7434072" cy="6858000"/>
          </a:xfrm>
          <a:prstGeom prst="rect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6766560" y="-2377440"/>
            <a:ext cx="13624560" cy="1161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Learn Project  ·  #1MillionDevs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5852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AZ-900 Prep Buddy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85800" y="39776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Quiz it. Understand it. Remember it. Plan it. Prove it.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983480"/>
            <a:ext cx="2651760" cy="384048"/>
          </a:xfrm>
          <a:prstGeom prst="roundRect">
            <a:avLst>
              <a:gd name="adj" fmla="val 47619"/>
            </a:avLst>
          </a:prstGeom>
          <a:noFill/>
          <a:ln w="19050">
            <a:solidFill>
              <a:srgbClr val="8E114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STUDY TOOL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57607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[Your name]  ·  Vibe Coding Hackathon: AZ-900 Exam Prep Edition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640080"/>
            <a:ext cx="2514600" cy="5122516"/>
          </a:xfrm>
          <a:prstGeom prst="roundRect">
            <a:avLst>
              <a:gd name="adj" fmla="val 1272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" name="Image 0" descr="/tmp/claude-1000/-home-liwu/81686f2c-8d0c-497e-87f6-41b6c08e6d3e/scratchpad/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777240"/>
            <a:ext cx="2240280" cy="484819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983980" y="685800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502920"/>
            <a:ext cx="256032" cy="256032"/>
          </a:xfrm>
          <a:prstGeom prst="ellipse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502920"/>
            <a:ext cx="256032" cy="256032"/>
          </a:xfrm>
          <a:prstGeom prst="ellipse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502920"/>
            <a:ext cx="256032" cy="256032"/>
          </a:xfrm>
          <a:prstGeom prst="ellipse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Problem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77240" y="224028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Practice questions show a score, but not WHY an answer is right or wrong.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Similar terms blur together: IaaS/PaaS, LRS/GRS, Policy/RBAC.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Learners do not know when they are ready, or how to split time before the exam date.</a:t>
            </a:r>
            <a:endParaRPr lang="en-US" sz="22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Most examples are not from learners' daily lives, and data is expensive.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098280" y="1371600"/>
            <a:ext cx="27432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508760"/>
            <a:ext cx="23774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Meet Amina</a:t>
            </a:r>
            <a:endParaRPr lang="en-US" sz="2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Illustrative persona, not a real person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Amina studies AZ-900 on her phone with limited data. She scores 60% on practice tests but cannot tell why she misses questions, mixes up LRS and GRS, and has no plan for her exam date.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Solution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app covering all five hackathon challenges, in one learning loop.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Quiz Builder: 81 original questions, instant feedback, an African analogy for each.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Flashcard Coach: every missed question brings its card back first.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Study Planner: exam date + hours → a plan weighted to weak skills.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Study Buddy: simple explanations in 8 languages via a Python server, with an offline fallback.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Readiness Tracker: score per skill, weighted like the real exam areas.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5669280"/>
            <a:ext cx="685800" cy="685800"/>
          </a:xfrm>
          <a:prstGeom prst="ellipse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68756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”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286000" cy="4627802"/>
          </a:xfrm>
          <a:prstGeom prst="roundRect">
            <a:avLst>
              <a:gd name="adj" fmla="val 14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6" name="Image 0" descr="/tmp/claude-1000/-home-liwu/81686f2c-8d0c-497e-87f6-41b6c08e6d3e/scratchpad/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54480"/>
            <a:ext cx="2011680" cy="435348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54480" y="1463040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09084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Instant feedback + African analogy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0" y="1417320"/>
            <a:ext cx="2286000" cy="4627802"/>
          </a:xfrm>
          <a:prstGeom prst="roundRect">
            <a:avLst>
              <a:gd name="adj" fmla="val 14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0" name="Image 1" descr="/tmp/claude-1000/-home-liwu/81686f2c-8d0c-497e-87f6-41b6c08e6d3e/scratchpad/pr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554480"/>
            <a:ext cx="2011680" cy="435348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846320" y="1463040"/>
            <a:ext cx="822960" cy="12801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40480" y="609084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Readiness tracker (sample data)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15200" y="210312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Works on a phone, offline.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Quiz, mock exam (30 questions, 30 minutes), flashcards, study plan, readiness tracker and AI Buddy.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i="1" u="sng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demo: [add URL]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Target Market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822960" cy="822960"/>
          </a:xfrm>
          <a:prstGeom prst="ellipse">
            <a:avLst/>
          </a:prstGeom>
          <a:solidFill>
            <a:srgbClr val="0EB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4173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27%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03120" y="212140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people in Sub-Saharan Africa use mobile internet (a 60% usage gap).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03120" y="248716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GSMA, State of Mobile Internet Connectivity 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3063240"/>
            <a:ext cx="822960" cy="822960"/>
          </a:xfrm>
          <a:prstGeom prst="ellipse">
            <a:avLst/>
          </a:prstGeom>
          <a:solidFill>
            <a:srgbClr val="8E11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83464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230 million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103120" y="353872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jobs in Sub-Saharan Africa are projected to require digital skills by 2030.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103120" y="390448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IFC, Digital Skills in Sub-Saharan Africa (2019 projection)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480560"/>
            <a:ext cx="822960" cy="822960"/>
          </a:xfrm>
          <a:prstGeom prst="ellipse">
            <a:avLst/>
          </a:prstGeom>
          <a:solidFill>
            <a:srgbClr val="0EB6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425196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650 million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103120" y="495604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training opportunities created by that demand, including retraining.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103120" y="5321808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IFC, 2019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 we build phone-first, small and offline. Who we serve: beginners across Africa, study groups and cohorts (1M Devs, PLP), and trainers.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Market Size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IFC estimates a $130 billion opportunity to provide digital skills in Sub-Saharan Africa through 2030 (2019 estimate). We start narrow with AZ-900, then expand: the engine is content-driven, so each new exam is mostly new data.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4754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found no public count of AZ-900 candidates, so we do not claim one. Source: IFC, 2019.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737360"/>
            <a:ext cx="5394960" cy="1234440"/>
          </a:xfrm>
          <a:prstGeom prst="roundRect">
            <a:avLst>
              <a:gd name="adj" fmla="val 8889"/>
            </a:avLst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73736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Today: AZ-900 candidates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20840" y="3200400"/>
            <a:ext cx="3977640" cy="1234440"/>
          </a:xfrm>
          <a:prstGeom prst="roundRect">
            <a:avLst>
              <a:gd name="adj" fmla="val 8889"/>
            </a:avLst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320040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Next: other Microsoft fundamentals exams (AI-900, SC-900, PL-900)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406640" y="466344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0B3169"/>
          </a:solidFill>
          <a:ln w="12700">
            <a:solidFill>
              <a:srgbClr val="0B31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466344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Then: any exam with a published skills outline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Competitors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Good options exist. Here is how we differ.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011680"/>
          <a:ext cx="107899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47548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Alternative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B6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What it does well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B6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Where we differ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B6B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Microsoft Learn practice assessment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Official, accurate, free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Adds spaced repetition, a study planner, readiness by skill and African analogies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Paid practice-test sites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Large question banks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Free and original. Question dumps risk copying real exam items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Video courses and blogs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Good first explanation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Barlow" pitchFamily="34" charset="0"/>
                          <a:ea typeface="Barlow" pitchFamily="34" charset="-122"/>
                          <a:cs typeface="Barlow" pitchFamily="34" charset="-120"/>
                        </a:rPr>
                        <a:t>Active recall: quizzes, flashcards and mock exam, not passive viewing</a:t>
                      </a:r>
                      <a:endParaRPr lang="en-US" sz="1600" dirty="0">
                        <a:latin typeface="Barlow" charset="0"/>
                        <a:ea typeface="Barlow" charset="0"/>
                        <a:cs typeface="Barlo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61872" cy="6858000"/>
          </a:xfrm>
          <a:prstGeom prst="rect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0936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261872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92808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23744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54680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785616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047488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678424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309360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0"/>
            <a:ext cx="0" cy="685800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Competitive Advantage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7373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makes us unique?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83080" y="2011680"/>
            <a:ext cx="9692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 on the official outline: all 11 sub-skills are covered.</a:t>
            </a:r>
            <a:endParaRPr lang="en-US" sz="21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African analogies on every answer, plus an AI Buddy in 8 languages that runs behind a rate-limited server (no key in the browser).</a:t>
            </a:r>
            <a:endParaRPr lang="en-US" sz="21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Honest readiness score: uses your latest answers, so it cannot be gamed.</a:t>
            </a:r>
            <a:endParaRPr lang="en-US" sz="21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Misses feed the flashcards; weak skills feed the study plan.</a:t>
            </a:r>
            <a:endParaRPr lang="en-US" sz="21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Offline-first and about 100 KB, so it fits low-data phones.</a:t>
            </a:r>
            <a:endParaRPr lang="en-US" sz="21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(FastAPI) + React (TypeScript): 33 unit tests, plus a real-browser e2e check, run in CI.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Project Traction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Tasks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Day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Day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Day 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Day 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24128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2103120"/>
            <a:ext cx="10515600" cy="0"/>
          </a:xfrm>
          <a:prstGeom prst="line">
            <a:avLst/>
          </a:prstGeom>
          <a:noFill/>
          <a:ln w="12700">
            <a:solidFill>
              <a:srgbClr val="8E1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Study the official AZ-900 outline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258568"/>
            <a:ext cx="1371600" cy="329184"/>
          </a:xfrm>
          <a:prstGeom prst="rect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solidFill>
            <a:srgbClr val="FBF6F8"/>
          </a:solidFill>
          <a:ln w="12700">
            <a:solidFill>
              <a:srgbClr val="FB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Write 81 original questions + 74 cards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15768"/>
            <a:ext cx="4114800" cy="329184"/>
          </a:xfrm>
          <a:prstGeom prst="rect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FastAPI backend + React app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172968"/>
            <a:ext cx="2743200" cy="329184"/>
          </a:xfrm>
          <a:prstGeom prst="rect">
            <a:avLst/>
          </a:prstGeom>
          <a:solidFill>
            <a:srgbClr val="FF66C4"/>
          </a:solidFill>
          <a:ln w="12700">
            <a:solidFill>
              <a:srgbClr val="FF66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566160"/>
            <a:ext cx="10515600" cy="457200"/>
          </a:xfrm>
          <a:prstGeom prst="rect">
            <a:avLst/>
          </a:prstGeom>
          <a:solidFill>
            <a:srgbClr val="FBF6F8"/>
          </a:solidFill>
          <a:ln w="12700">
            <a:solidFill>
              <a:srgbClr val="FBF6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566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Planner, mock exam, AI Buddy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98080" y="3630168"/>
            <a:ext cx="2743200" cy="329184"/>
          </a:xfrm>
          <a:prstGeom prst="rect">
            <a:avLst/>
          </a:prstGeom>
          <a:solidFill>
            <a:srgbClr val="FFDD57"/>
          </a:solidFill>
          <a:ln w="12700">
            <a:solidFill>
              <a:srgbClr val="FFDD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Tests (pytest, vitest, e2e) + CI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0" y="4087368"/>
            <a:ext cx="2743200" cy="329184"/>
          </a:xfrm>
          <a:prstGeom prst="rect">
            <a:avLst/>
          </a:prstGeom>
          <a:solidFill>
            <a:srgbClr val="00BF63"/>
          </a:solidFill>
          <a:ln w="12700">
            <a:solidFill>
              <a:srgbClr val="00BF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97280" y="4480560"/>
            <a:ext cx="10515600" cy="457200"/>
          </a:xfrm>
          <a:prstGeom prst="rect">
            <a:avLst/>
          </a:prstGeom>
          <a:solidFill>
            <a:srgbClr val="FBF6F8"/>
          </a:solidFill>
          <a:ln w="12700">
            <a:solidFill>
              <a:srgbClr val="FBF6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8872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Docs, PWA, README, prompts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869680" y="4544568"/>
            <a:ext cx="1371600" cy="329184"/>
          </a:xfrm>
          <a:prstGeom prst="rect">
            <a:avLst/>
          </a:prstGeom>
          <a:solidFill>
            <a:srgbClr val="0B3169"/>
          </a:solidFill>
          <a:ln w="12700">
            <a:solidFill>
              <a:srgbClr val="0B31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37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Pitch deck + submission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869680" y="5001768"/>
            <a:ext cx="1371600" cy="329184"/>
          </a:xfrm>
          <a:prstGeom prst="rect">
            <a:avLst/>
          </a:prstGeom>
          <a:solidFill>
            <a:srgbClr val="CF6D3B"/>
          </a:solidFill>
          <a:ln w="12700">
            <a:solidFill>
              <a:srgbClr val="CF6D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7280" y="5394960"/>
            <a:ext cx="10515600" cy="457200"/>
          </a:xfrm>
          <a:prstGeom prst="rect">
            <a:avLst/>
          </a:prstGeom>
          <a:solidFill>
            <a:srgbClr val="FBF6F8"/>
          </a:solidFill>
          <a:ln w="12700">
            <a:solidFill>
              <a:srgbClr val="FBF6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5394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Cohort pilot, more exams, translations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241280" y="5458968"/>
            <a:ext cx="1371600" cy="329184"/>
          </a:xfrm>
          <a:prstGeom prst="rect">
            <a:avLst/>
          </a:prstGeom>
          <a:solidFill>
            <a:srgbClr val="FF5757"/>
          </a:solidFill>
          <a:ln w="12700">
            <a:solidFill>
              <a:srgbClr val="FF575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035040" y="0"/>
            <a:ext cx="6153912" cy="6858000"/>
          </a:xfrm>
          <a:prstGeom prst="rect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50292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Business Model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371600" y="4206240"/>
            <a:ext cx="731520" cy="1188720"/>
          </a:xfrm>
          <a:prstGeom prst="rect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3566160"/>
            <a:ext cx="731520" cy="1828800"/>
          </a:xfrm>
          <a:prstGeom prst="rect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2926080"/>
            <a:ext cx="731520" cy="2468880"/>
          </a:xfrm>
          <a:prstGeom prst="rect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4480560"/>
            <a:ext cx="2926080" cy="-2011680"/>
          </a:xfrm>
          <a:prstGeom prst="line">
            <a:avLst/>
          </a:prstGeom>
          <a:noFill/>
          <a:ln w="101600">
            <a:solidFill>
              <a:srgbClr val="0B3169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Free for learners, always.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Hackathon stage: no revenue. Static hosting costs almost nothing; the AI Buddy is the only variable cost (per-question API usage), capped by a server-side rate limit.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Sustainability options: sponsored seats from communities and employers, a trainer dashboard for cohorts, and pooled API credits for the Buddy.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61872" cy="6858000"/>
          </a:xfrm>
          <a:prstGeom prst="rect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0936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261872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92808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23744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54680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785616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047488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678424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309360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0"/>
            <a:ext cx="0" cy="685800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 To Market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7373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How we reach learners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83080" y="2011680"/>
            <a:ext cx="9692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Launch inside 1M Devs and PLP cohorts: one shareable link, no sign-up.</a:t>
            </a:r>
            <a:endParaRPr lang="en-US" sz="21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Study-group channels (WhatsApp, Telegram, Discord): share a link, or install it from the browser.</a:t>
            </a:r>
            <a:endParaRPr lang="en-US" sz="21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Trainers adopt it for class revision and mock exams.</a:t>
            </a:r>
            <a:endParaRPr lang="en-US" sz="21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Open-source repo: contributors add questions and reviewed translations.</a:t>
            </a:r>
            <a:endParaRPr lang="en-US" sz="21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Partner with Microsoft Learn communities: we send learners to the official resources.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61872" cy="6858000"/>
          </a:xfrm>
          <a:prstGeom prst="rect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0936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261872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92808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23744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54680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785616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047488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678424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309360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0"/>
            <a:ext cx="0" cy="685800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Social Impact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73736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Sustainable Development Goals we support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83080" y="2103120"/>
            <a:ext cx="96926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SDG 4, Quality Education: free, explained, self-paced exam preparation.</a:t>
            </a:r>
            <a:endParaRPr lang="en-US" sz="22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SDG 8, Decent Work and Economic Growth: a recognised cloud credential opens job paths.</a:t>
            </a:r>
            <a:endParaRPr lang="en-US" sz="22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SDG 9, Industry, Innovation and Infrastructure: grows cloud skills for local tech ecosystems.</a:t>
            </a:r>
            <a:endParaRPr lang="en-US" sz="2200" dirty="0"/>
          </a:p>
          <a:p>
            <a:pPr marL="254000" indent="-2540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SDG 10, Reduced Inequalities: low-data, offline and local-language support.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Our Ask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Feedback from the judges and mentors on content accuracy and the learner experience.</a:t>
            </a:r>
            <a:endParaRPr lang="en-US" sz="23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pilot with one 1M Devs / PLP cohort to measure readiness gains and mock-exam pass rates.</a:t>
            </a:r>
            <a:endParaRPr lang="en-US" sz="23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Sponsored API credits to run the AI Buddy (server-side and rate-limited).</a:t>
            </a:r>
            <a:endParaRPr lang="en-US" sz="23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Community reviewers for questions and translations (Kiswahili, Hausa, Yorùbá, isiZulu, Amharic).</a:t>
            </a:r>
            <a:endParaRPr lang="en-US" sz="23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3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 are not asking for funding at this stage.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61872" cy="6858000"/>
          </a:xfrm>
          <a:prstGeom prst="rect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30936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261872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92808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23744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154680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785616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416552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047488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678424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6309360"/>
            <a:ext cx="1261872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0"/>
            <a:ext cx="0" cy="685800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502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Members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173736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 + React build, AI-assisted with Claude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194560" y="2468880"/>
            <a:ext cx="2011680" cy="2011680"/>
          </a:xfrm>
          <a:prstGeom prst="ellipse">
            <a:avLst/>
          </a:prstGeom>
          <a:solidFill>
            <a:srgbClr val="0EB6BF"/>
          </a:solidFill>
          <a:ln w="12700">
            <a:solidFill>
              <a:srgbClr val="0EB6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24688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YN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737360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[YOUR NAME]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206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Senior software engineer, product owner and reviewer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2468880"/>
            <a:ext cx="2011680" cy="2011680"/>
          </a:xfrm>
          <a:prstGeom prst="ellipse">
            <a:avLst/>
          </a:prstGeom>
          <a:solidFill>
            <a:srgbClr val="8E1140"/>
          </a:solidFill>
          <a:ln w="12700">
            <a:solidFill>
              <a:srgbClr val="8E11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46888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852160" y="46634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CLAUDE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852160" y="5120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AI pair-programmer: drafts content, code and tests; powers the Study Buddy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55680" y="6263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4630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Unofficial · not affiliated with Microsoft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75104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62656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50208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25312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12864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00416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87968" y="0"/>
            <a:ext cx="0" cy="685800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8869680" cy="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987552"/>
            <a:ext cx="8869680" cy="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975104"/>
            <a:ext cx="8869680" cy="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2962656"/>
            <a:ext cx="8869680" cy="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3950208"/>
            <a:ext cx="8869680" cy="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37760"/>
            <a:ext cx="8869680" cy="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5925312"/>
            <a:ext cx="8869680" cy="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6912864"/>
            <a:ext cx="8869680" cy="0"/>
          </a:xfrm>
          <a:prstGeom prst="line">
            <a:avLst/>
          </a:prstGeom>
          <a:noFill/>
          <a:ln w="9525">
            <a:solidFill>
              <a:srgbClr val="0EB6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19456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EB6B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23" name="Text 21"/>
          <p:cNvSpPr/>
          <p:nvPr/>
        </p:nvSpPr>
        <p:spPr>
          <a:xfrm>
            <a:off x="4206240" y="393192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demo: [add URL]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GitHub: [add repo URL]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[your email / LinkedIn]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8E114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Study with the official sources too: aka.ms/AZ900-StudyGuide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AZ-900 Prep Buddy (Unofficial) - Pitch</dc:title>
  <dc:subject>PptxGenJS Presentation</dc:subject>
  <dc:creator>PptxGenJS</dc:creator>
  <cp:lastModifiedBy>PptxGenJS</cp:lastModifiedBy>
  <cp:revision>1</cp:revision>
  <dcterms:created xsi:type="dcterms:W3CDTF">2026-10-23T14:11:18Z</dcterms:created>
  <dcterms:modified xsi:type="dcterms:W3CDTF">2026-10-23T14:11:18Z</dcterms:modified>
</cp:coreProperties>
</file>